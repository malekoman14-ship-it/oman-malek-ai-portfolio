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6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jq2V72ZWMYJNkmNGGQuYmIBIA9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5CBC2-ACD7-41F2-8A21-4C5372C679BB}" v="6" dt="2026-02-16T00:20:11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bd wbd" userId="7e1a3eceb01d3f9a" providerId="LiveId" clId="{8B333A98-0136-4121-AE2D-921DC40048E2}"/>
    <pc:docChg chg="custSel modSld">
      <pc:chgData name="wbd wbd" userId="7e1a3eceb01d3f9a" providerId="LiveId" clId="{8B333A98-0136-4121-AE2D-921DC40048E2}" dt="2026-02-16T00:20:36.376" v="131" actId="20577"/>
      <pc:docMkLst>
        <pc:docMk/>
      </pc:docMkLst>
      <pc:sldChg chg="modSp mod">
        <pc:chgData name="wbd wbd" userId="7e1a3eceb01d3f9a" providerId="LiveId" clId="{8B333A98-0136-4121-AE2D-921DC40048E2}" dt="2026-02-16T00:10:39.740" v="3" actId="6549"/>
        <pc:sldMkLst>
          <pc:docMk/>
          <pc:sldMk cId="0" sldId="257"/>
        </pc:sldMkLst>
        <pc:spChg chg="mod">
          <ac:chgData name="wbd wbd" userId="7e1a3eceb01d3f9a" providerId="LiveId" clId="{8B333A98-0136-4121-AE2D-921DC40048E2}" dt="2026-02-16T00:10:39.740" v="3" actId="6549"/>
          <ac:spMkLst>
            <pc:docMk/>
            <pc:sldMk cId="0" sldId="257"/>
            <ac:spMk id="165" creationId="{00000000-0000-0000-0000-000000000000}"/>
          </ac:spMkLst>
        </pc:spChg>
      </pc:sldChg>
      <pc:sldChg chg="addSp delSp modSp mod setBg modClrScheme chgLayout">
        <pc:chgData name="wbd wbd" userId="7e1a3eceb01d3f9a" providerId="LiveId" clId="{8B333A98-0136-4121-AE2D-921DC40048E2}" dt="2026-02-16T00:15:45.484" v="44" actId="20577"/>
        <pc:sldMkLst>
          <pc:docMk/>
          <pc:sldMk cId="0" sldId="258"/>
        </pc:sldMkLst>
        <pc:spChg chg="mod">
          <ac:chgData name="wbd wbd" userId="7e1a3eceb01d3f9a" providerId="LiveId" clId="{8B333A98-0136-4121-AE2D-921DC40048E2}" dt="2026-02-16T00:12:49.618" v="10" actId="26606"/>
          <ac:spMkLst>
            <pc:docMk/>
            <pc:sldMk cId="0" sldId="258"/>
            <ac:spMk id="173" creationId="{00000000-0000-0000-0000-000000000000}"/>
          </ac:spMkLst>
        </pc:spChg>
        <pc:spChg chg="del mod">
          <ac:chgData name="wbd wbd" userId="7e1a3eceb01d3f9a" providerId="LiveId" clId="{8B333A98-0136-4121-AE2D-921DC40048E2}" dt="2026-02-16T00:12:49.618" v="10" actId="26606"/>
          <ac:spMkLst>
            <pc:docMk/>
            <pc:sldMk cId="0" sldId="258"/>
            <ac:spMk id="174" creationId="{00000000-0000-0000-0000-000000000000}"/>
          </ac:spMkLst>
        </pc:spChg>
        <pc:graphicFrameChg chg="add mod modGraphic">
          <ac:chgData name="wbd wbd" userId="7e1a3eceb01d3f9a" providerId="LiveId" clId="{8B333A98-0136-4121-AE2D-921DC40048E2}" dt="2026-02-16T00:15:45.484" v="44" actId="20577"/>
          <ac:graphicFrameMkLst>
            <pc:docMk/>
            <pc:sldMk cId="0" sldId="258"/>
            <ac:graphicFrameMk id="176" creationId="{EEE435B0-387B-19F8-DF36-1BEA0C5CC2D1}"/>
          </ac:graphicFrameMkLst>
        </pc:graphicFrameChg>
        <pc:picChg chg="del">
          <ac:chgData name="wbd wbd" userId="7e1a3eceb01d3f9a" providerId="LiveId" clId="{8B333A98-0136-4121-AE2D-921DC40048E2}" dt="2026-02-16T00:11:11.768" v="4" actId="478"/>
          <ac:picMkLst>
            <pc:docMk/>
            <pc:sldMk cId="0" sldId="258"/>
            <ac:picMk id="175" creationId="{00000000-0000-0000-0000-000000000000}"/>
          </ac:picMkLst>
        </pc:picChg>
      </pc:sldChg>
      <pc:sldChg chg="modSp mod">
        <pc:chgData name="wbd wbd" userId="7e1a3eceb01d3f9a" providerId="LiveId" clId="{8B333A98-0136-4121-AE2D-921DC40048E2}" dt="2026-02-16T00:16:07.384" v="56" actId="20577"/>
        <pc:sldMkLst>
          <pc:docMk/>
          <pc:sldMk cId="0" sldId="259"/>
        </pc:sldMkLst>
        <pc:spChg chg="mod">
          <ac:chgData name="wbd wbd" userId="7e1a3eceb01d3f9a" providerId="LiveId" clId="{8B333A98-0136-4121-AE2D-921DC40048E2}" dt="2026-02-16T00:16:07.384" v="56" actId="20577"/>
          <ac:spMkLst>
            <pc:docMk/>
            <pc:sldMk cId="0" sldId="259"/>
            <ac:spMk id="183" creationId="{00000000-0000-0000-0000-000000000000}"/>
          </ac:spMkLst>
        </pc:spChg>
      </pc:sldChg>
      <pc:sldChg chg="modSp mod">
        <pc:chgData name="wbd wbd" userId="7e1a3eceb01d3f9a" providerId="LiveId" clId="{8B333A98-0136-4121-AE2D-921DC40048E2}" dt="2026-02-16T00:17:43.366" v="74" actId="20577"/>
        <pc:sldMkLst>
          <pc:docMk/>
          <pc:sldMk cId="0" sldId="260"/>
        </pc:sldMkLst>
        <pc:spChg chg="mod">
          <ac:chgData name="wbd wbd" userId="7e1a3eceb01d3f9a" providerId="LiveId" clId="{8B333A98-0136-4121-AE2D-921DC40048E2}" dt="2026-02-16T00:17:43.366" v="74" actId="20577"/>
          <ac:spMkLst>
            <pc:docMk/>
            <pc:sldMk cId="0" sldId="260"/>
            <ac:spMk id="193" creationId="{00000000-0000-0000-0000-000000000000}"/>
          </ac:spMkLst>
        </pc:spChg>
      </pc:sldChg>
      <pc:sldChg chg="addSp delSp modSp mod modClrScheme chgLayout">
        <pc:chgData name="wbd wbd" userId="7e1a3eceb01d3f9a" providerId="LiveId" clId="{8B333A98-0136-4121-AE2D-921DC40048E2}" dt="2026-02-16T00:19:43.827" v="87" actId="14100"/>
        <pc:sldMkLst>
          <pc:docMk/>
          <pc:sldMk cId="0" sldId="263"/>
        </pc:sldMkLst>
        <pc:spChg chg="mod">
          <ac:chgData name="wbd wbd" userId="7e1a3eceb01d3f9a" providerId="LiveId" clId="{8B333A98-0136-4121-AE2D-921DC40048E2}" dt="2026-02-16T00:18:59.866" v="76" actId="26606"/>
          <ac:spMkLst>
            <pc:docMk/>
            <pc:sldMk cId="0" sldId="263"/>
            <ac:spMk id="227" creationId="{00000000-0000-0000-0000-000000000000}"/>
          </ac:spMkLst>
        </pc:spChg>
        <pc:spChg chg="del">
          <ac:chgData name="wbd wbd" userId="7e1a3eceb01d3f9a" providerId="LiveId" clId="{8B333A98-0136-4121-AE2D-921DC40048E2}" dt="2026-02-16T00:18:59.866" v="76" actId="26606"/>
          <ac:spMkLst>
            <pc:docMk/>
            <pc:sldMk cId="0" sldId="263"/>
            <ac:spMk id="228" creationId="{00000000-0000-0000-0000-000000000000}"/>
          </ac:spMkLst>
        </pc:spChg>
        <pc:graphicFrameChg chg="add mod modGraphic">
          <ac:chgData name="wbd wbd" userId="7e1a3eceb01d3f9a" providerId="LiveId" clId="{8B333A98-0136-4121-AE2D-921DC40048E2}" dt="2026-02-16T00:19:43.827" v="87" actId="14100"/>
          <ac:graphicFrameMkLst>
            <pc:docMk/>
            <pc:sldMk cId="0" sldId="263"/>
            <ac:graphicFrameMk id="230" creationId="{8563EED4-30C9-078C-D0E4-C1689D211060}"/>
          </ac:graphicFrameMkLst>
        </pc:graphicFrameChg>
        <pc:picChg chg="del">
          <ac:chgData name="wbd wbd" userId="7e1a3eceb01d3f9a" providerId="LiveId" clId="{8B333A98-0136-4121-AE2D-921DC40048E2}" dt="2026-02-16T00:18:49.327" v="75" actId="478"/>
          <ac:picMkLst>
            <pc:docMk/>
            <pc:sldMk cId="0" sldId="263"/>
            <ac:picMk id="229" creationId="{00000000-0000-0000-0000-000000000000}"/>
          </ac:picMkLst>
        </pc:picChg>
      </pc:sldChg>
      <pc:sldChg chg="modSp mod modNotes">
        <pc:chgData name="wbd wbd" userId="7e1a3eceb01d3f9a" providerId="LiveId" clId="{8B333A98-0136-4121-AE2D-921DC40048E2}" dt="2026-02-16T00:20:36.376" v="131" actId="20577"/>
        <pc:sldMkLst>
          <pc:docMk/>
          <pc:sldMk cId="0" sldId="264"/>
        </pc:sldMkLst>
        <pc:spChg chg="mod">
          <ac:chgData name="wbd wbd" userId="7e1a3eceb01d3f9a" providerId="LiveId" clId="{8B333A98-0136-4121-AE2D-921DC40048E2}" dt="2026-02-16T00:20:36.376" v="131" actId="20577"/>
          <ac:spMkLst>
            <pc:docMk/>
            <pc:sldMk cId="0" sldId="264"/>
            <ac:spMk id="237" creationId="{00000000-0000-0000-0000-00000000000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98E707-EF9A-43BB-AA57-DE5375EDFE62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A8E45A-31FA-476F-970D-87C23CDEBBFC}">
      <dgm:prSet/>
      <dgm:spPr/>
      <dgm:t>
        <a:bodyPr/>
        <a:lstStyle/>
        <a:p>
          <a:r>
            <a:rPr lang="en-US"/>
            <a:t>Dr. Louise Banks, a linguist, is selected to translate the language of extraterrestrials called Heptapods.</a:t>
          </a:r>
        </a:p>
      </dgm:t>
    </dgm:pt>
    <dgm:pt modelId="{107B75FB-AADA-4D4F-B024-CF20E0FCFD08}" type="parTrans" cxnId="{C81EF658-B604-406D-93DF-69F39A0B3098}">
      <dgm:prSet/>
      <dgm:spPr/>
      <dgm:t>
        <a:bodyPr/>
        <a:lstStyle/>
        <a:p>
          <a:endParaRPr lang="en-US"/>
        </a:p>
      </dgm:t>
    </dgm:pt>
    <dgm:pt modelId="{218D4C24-D38E-43D3-820F-3540740C6649}" type="sibTrans" cxnId="{C81EF658-B604-406D-93DF-69F39A0B3098}">
      <dgm:prSet/>
      <dgm:spPr/>
      <dgm:t>
        <a:bodyPr/>
        <a:lstStyle/>
        <a:p>
          <a:endParaRPr lang="en-US"/>
        </a:p>
      </dgm:t>
    </dgm:pt>
    <dgm:pt modelId="{95009518-7CFA-4CED-8C3A-3CC86F71DAD4}">
      <dgm:prSet/>
      <dgm:spPr/>
      <dgm:t>
        <a:bodyPr/>
        <a:lstStyle/>
        <a:p>
          <a:r>
            <a:rPr lang="en-US" dirty="0" err="1"/>
            <a:t>Heptapod’s</a:t>
          </a:r>
          <a:r>
            <a:rPr lang="en-US" dirty="0"/>
            <a:t> language consists of complex symbols or “Logograms”. </a:t>
          </a:r>
        </a:p>
      </dgm:t>
    </dgm:pt>
    <dgm:pt modelId="{80FB5CDA-63F5-4AF4-A6AA-551A37F2F9E9}" type="parTrans" cxnId="{2E6AF947-1011-4421-B3D8-E39864E970C2}">
      <dgm:prSet/>
      <dgm:spPr/>
      <dgm:t>
        <a:bodyPr/>
        <a:lstStyle/>
        <a:p>
          <a:endParaRPr lang="en-US"/>
        </a:p>
      </dgm:t>
    </dgm:pt>
    <dgm:pt modelId="{E3107819-7E44-4640-9EBE-617084F69F41}" type="sibTrans" cxnId="{2E6AF947-1011-4421-B3D8-E39864E970C2}">
      <dgm:prSet/>
      <dgm:spPr/>
      <dgm:t>
        <a:bodyPr/>
        <a:lstStyle/>
        <a:p>
          <a:endParaRPr lang="en-US"/>
        </a:p>
      </dgm:t>
    </dgm:pt>
    <dgm:pt modelId="{E2DC4B94-0B51-4EAB-8500-56D789216570}">
      <dgm:prSet/>
      <dgm:spPr/>
      <dgm:t>
        <a:bodyPr/>
        <a:lstStyle/>
        <a:p>
          <a:r>
            <a:rPr lang="en-US" dirty="0"/>
            <a:t>Dr. Louise Banks uses semantic analysis, pattern recognition, and contextual interpretation.</a:t>
          </a:r>
        </a:p>
      </dgm:t>
    </dgm:pt>
    <dgm:pt modelId="{BECDEC90-3673-4FC4-864A-6B7473B7A24B}" type="parTrans" cxnId="{633F55E4-EB2D-4F81-8AF2-F2839A30AD32}">
      <dgm:prSet/>
      <dgm:spPr/>
      <dgm:t>
        <a:bodyPr/>
        <a:lstStyle/>
        <a:p>
          <a:endParaRPr lang="en-US"/>
        </a:p>
      </dgm:t>
    </dgm:pt>
    <dgm:pt modelId="{892D4828-04BB-497F-8961-3E7547C11890}" type="sibTrans" cxnId="{633F55E4-EB2D-4F81-8AF2-F2839A30AD32}">
      <dgm:prSet/>
      <dgm:spPr/>
      <dgm:t>
        <a:bodyPr/>
        <a:lstStyle/>
        <a:p>
          <a:endParaRPr lang="en-US"/>
        </a:p>
      </dgm:t>
    </dgm:pt>
    <dgm:pt modelId="{6EE6845F-8A86-4557-B56C-0B9BE23D6916}" type="pres">
      <dgm:prSet presAssocID="{9C98E707-EF9A-43BB-AA57-DE5375EDFE62}" presName="linear" presStyleCnt="0">
        <dgm:presLayoutVars>
          <dgm:animLvl val="lvl"/>
          <dgm:resizeHandles val="exact"/>
        </dgm:presLayoutVars>
      </dgm:prSet>
      <dgm:spPr/>
    </dgm:pt>
    <dgm:pt modelId="{C2F7F87D-29F3-4F6F-9AE2-919CA83E4960}" type="pres">
      <dgm:prSet presAssocID="{99A8E45A-31FA-476F-970D-87C23CDEBBF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C8F48C7-E852-47E9-9547-CD06876FD350}" type="pres">
      <dgm:prSet presAssocID="{218D4C24-D38E-43D3-820F-3540740C6649}" presName="spacer" presStyleCnt="0"/>
      <dgm:spPr/>
    </dgm:pt>
    <dgm:pt modelId="{F2EC5301-53D9-4545-A339-47EBD64F3222}" type="pres">
      <dgm:prSet presAssocID="{95009518-7CFA-4CED-8C3A-3CC86F71DAD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46156F0-8C7B-422D-9D9C-2536F65880F0}" type="pres">
      <dgm:prSet presAssocID="{E3107819-7E44-4640-9EBE-617084F69F41}" presName="spacer" presStyleCnt="0"/>
      <dgm:spPr/>
    </dgm:pt>
    <dgm:pt modelId="{83A37122-AD00-48D5-A384-EB40EF3D058E}" type="pres">
      <dgm:prSet presAssocID="{E2DC4B94-0B51-4EAB-8500-56D78921657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601D00A-BCCA-4099-80AD-91C2CF168927}" type="presOf" srcId="{E2DC4B94-0B51-4EAB-8500-56D789216570}" destId="{83A37122-AD00-48D5-A384-EB40EF3D058E}" srcOrd="0" destOrd="0" presId="urn:microsoft.com/office/officeart/2005/8/layout/vList2"/>
    <dgm:cxn modelId="{510EC519-B148-42BD-BFB0-118B2B8697C9}" type="presOf" srcId="{99A8E45A-31FA-476F-970D-87C23CDEBBFC}" destId="{C2F7F87D-29F3-4F6F-9AE2-919CA83E4960}" srcOrd="0" destOrd="0" presId="urn:microsoft.com/office/officeart/2005/8/layout/vList2"/>
    <dgm:cxn modelId="{2E6AF947-1011-4421-B3D8-E39864E970C2}" srcId="{9C98E707-EF9A-43BB-AA57-DE5375EDFE62}" destId="{95009518-7CFA-4CED-8C3A-3CC86F71DAD4}" srcOrd="1" destOrd="0" parTransId="{80FB5CDA-63F5-4AF4-A6AA-551A37F2F9E9}" sibTransId="{E3107819-7E44-4640-9EBE-617084F69F41}"/>
    <dgm:cxn modelId="{C81EF658-B604-406D-93DF-69F39A0B3098}" srcId="{9C98E707-EF9A-43BB-AA57-DE5375EDFE62}" destId="{99A8E45A-31FA-476F-970D-87C23CDEBBFC}" srcOrd="0" destOrd="0" parTransId="{107B75FB-AADA-4D4F-B024-CF20E0FCFD08}" sibTransId="{218D4C24-D38E-43D3-820F-3540740C6649}"/>
    <dgm:cxn modelId="{EAA122B1-F0F4-4079-9AF2-11158757F70D}" type="presOf" srcId="{95009518-7CFA-4CED-8C3A-3CC86F71DAD4}" destId="{F2EC5301-53D9-4545-A339-47EBD64F3222}" srcOrd="0" destOrd="0" presId="urn:microsoft.com/office/officeart/2005/8/layout/vList2"/>
    <dgm:cxn modelId="{633F55E4-EB2D-4F81-8AF2-F2839A30AD32}" srcId="{9C98E707-EF9A-43BB-AA57-DE5375EDFE62}" destId="{E2DC4B94-0B51-4EAB-8500-56D789216570}" srcOrd="2" destOrd="0" parTransId="{BECDEC90-3673-4FC4-864A-6B7473B7A24B}" sibTransId="{892D4828-04BB-497F-8961-3E7547C11890}"/>
    <dgm:cxn modelId="{A91F55EA-BE03-43E9-ABBD-1C952CC3D13C}" type="presOf" srcId="{9C98E707-EF9A-43BB-AA57-DE5375EDFE62}" destId="{6EE6845F-8A86-4557-B56C-0B9BE23D6916}" srcOrd="0" destOrd="0" presId="urn:microsoft.com/office/officeart/2005/8/layout/vList2"/>
    <dgm:cxn modelId="{28C3AC0D-9DC4-4D90-A533-13F3087D1745}" type="presParOf" srcId="{6EE6845F-8A86-4557-B56C-0B9BE23D6916}" destId="{C2F7F87D-29F3-4F6F-9AE2-919CA83E4960}" srcOrd="0" destOrd="0" presId="urn:microsoft.com/office/officeart/2005/8/layout/vList2"/>
    <dgm:cxn modelId="{CA919B4F-9E9B-484A-AC5C-5509C0E19EA1}" type="presParOf" srcId="{6EE6845F-8A86-4557-B56C-0B9BE23D6916}" destId="{FC8F48C7-E852-47E9-9547-CD06876FD350}" srcOrd="1" destOrd="0" presId="urn:microsoft.com/office/officeart/2005/8/layout/vList2"/>
    <dgm:cxn modelId="{AFA0EFFE-16B1-41DF-9449-AD6999F9D5BD}" type="presParOf" srcId="{6EE6845F-8A86-4557-B56C-0B9BE23D6916}" destId="{F2EC5301-53D9-4545-A339-47EBD64F3222}" srcOrd="2" destOrd="0" presId="urn:microsoft.com/office/officeart/2005/8/layout/vList2"/>
    <dgm:cxn modelId="{D3999B9E-AF4F-4C06-9AE1-F540E1CAE0CC}" type="presParOf" srcId="{6EE6845F-8A86-4557-B56C-0B9BE23D6916}" destId="{046156F0-8C7B-422D-9D9C-2536F65880F0}" srcOrd="3" destOrd="0" presId="urn:microsoft.com/office/officeart/2005/8/layout/vList2"/>
    <dgm:cxn modelId="{F27F509C-5C4A-4655-B6C1-90BE39037155}" type="presParOf" srcId="{6EE6845F-8A86-4557-B56C-0B9BE23D6916}" destId="{83A37122-AD00-48D5-A384-EB40EF3D058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9E4BC6-CE52-4B60-87FE-B9006AB9917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713C3F-C20A-46C9-A6E6-CBFB4916F0E1}">
      <dgm:prSet custT="1"/>
      <dgm:spPr/>
      <dgm:t>
        <a:bodyPr/>
        <a:lstStyle/>
        <a:p>
          <a:r>
            <a:rPr lang="en-US" sz="2400" i="1" dirty="0">
              <a:solidFill>
                <a:schemeClr val="bg1"/>
              </a:solidFill>
            </a:rPr>
            <a:t>Arrival</a:t>
          </a:r>
          <a:r>
            <a:rPr lang="en-US" sz="2400" dirty="0">
              <a:solidFill>
                <a:schemeClr val="bg1"/>
              </a:solidFill>
            </a:rPr>
            <a:t> emphasizes the Whorfian hypothesis of language shapes thoughts.</a:t>
          </a:r>
        </a:p>
      </dgm:t>
    </dgm:pt>
    <dgm:pt modelId="{50D57CFC-684C-4FD5-8849-F442A65F03CE}" type="parTrans" cxnId="{1329398E-87C7-4BA8-9575-5695E8FA9B3A}">
      <dgm:prSet/>
      <dgm:spPr/>
      <dgm:t>
        <a:bodyPr/>
        <a:lstStyle/>
        <a:p>
          <a:endParaRPr lang="en-US" sz="3200"/>
        </a:p>
      </dgm:t>
    </dgm:pt>
    <dgm:pt modelId="{BADD965F-F826-45EF-B959-DEDAD4B4EF67}" type="sibTrans" cxnId="{1329398E-87C7-4BA8-9575-5695E8FA9B3A}">
      <dgm:prSet/>
      <dgm:spPr/>
      <dgm:t>
        <a:bodyPr/>
        <a:lstStyle/>
        <a:p>
          <a:endParaRPr lang="en-US" sz="3200"/>
        </a:p>
      </dgm:t>
    </dgm:pt>
    <dgm:pt modelId="{D977EC9D-B98D-4550-AA20-98FBA44C6F44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A challenge for  NLP, is understanding different linguistic structures. </a:t>
          </a:r>
        </a:p>
      </dgm:t>
    </dgm:pt>
    <dgm:pt modelId="{90EE0F8E-E7F9-4480-8114-449938285AC9}" type="parTrans" cxnId="{F91767A4-D4C7-4D78-992C-214CFBEB786F}">
      <dgm:prSet/>
      <dgm:spPr/>
      <dgm:t>
        <a:bodyPr/>
        <a:lstStyle/>
        <a:p>
          <a:endParaRPr lang="en-US" sz="3200"/>
        </a:p>
      </dgm:t>
    </dgm:pt>
    <dgm:pt modelId="{C7392360-E9E0-4E91-AAE8-7F47AA881262}" type="sibTrans" cxnId="{F91767A4-D4C7-4D78-992C-214CFBEB786F}">
      <dgm:prSet/>
      <dgm:spPr/>
      <dgm:t>
        <a:bodyPr/>
        <a:lstStyle/>
        <a:p>
          <a:endParaRPr lang="en-US" sz="3200"/>
        </a:p>
      </dgm:t>
    </dgm:pt>
    <dgm:pt modelId="{F78F7B2A-54F5-4E63-A56E-71ACD763CD7E}">
      <dgm:prSet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</a:rPr>
            <a:t>An Ethical Concern: Misinterpretations in NLP (bias or misinformation) can have major effects.</a:t>
          </a:r>
        </a:p>
      </dgm:t>
    </dgm:pt>
    <dgm:pt modelId="{D06599FE-24B5-4984-8D8D-133F1E4978CB}" type="parTrans" cxnId="{EA162B68-B1D5-48E8-AE62-A25C44458B66}">
      <dgm:prSet/>
      <dgm:spPr/>
      <dgm:t>
        <a:bodyPr/>
        <a:lstStyle/>
        <a:p>
          <a:endParaRPr lang="en-US" sz="3200"/>
        </a:p>
      </dgm:t>
    </dgm:pt>
    <dgm:pt modelId="{B644F837-400D-4CF4-83D1-6BEF381B8D34}" type="sibTrans" cxnId="{EA162B68-B1D5-48E8-AE62-A25C44458B66}">
      <dgm:prSet/>
      <dgm:spPr/>
      <dgm:t>
        <a:bodyPr/>
        <a:lstStyle/>
        <a:p>
          <a:endParaRPr lang="en-US" sz="3200"/>
        </a:p>
      </dgm:t>
    </dgm:pt>
    <dgm:pt modelId="{70C65F3F-ABD7-4912-8900-757161D094BC}" type="pres">
      <dgm:prSet presAssocID="{F39E4BC6-CE52-4B60-87FE-B9006AB9917A}" presName="root" presStyleCnt="0">
        <dgm:presLayoutVars>
          <dgm:dir/>
          <dgm:resizeHandles val="exact"/>
        </dgm:presLayoutVars>
      </dgm:prSet>
      <dgm:spPr/>
    </dgm:pt>
    <dgm:pt modelId="{C545F205-7374-4EF4-ABCD-C9C8B3496B6A}" type="pres">
      <dgm:prSet presAssocID="{F39E4BC6-CE52-4B60-87FE-B9006AB9917A}" presName="container" presStyleCnt="0">
        <dgm:presLayoutVars>
          <dgm:dir/>
          <dgm:resizeHandles val="exact"/>
        </dgm:presLayoutVars>
      </dgm:prSet>
      <dgm:spPr/>
    </dgm:pt>
    <dgm:pt modelId="{64EDCA90-A63E-4EC9-8B8D-75F648F9B82A}" type="pres">
      <dgm:prSet presAssocID="{09713C3F-C20A-46C9-A6E6-CBFB4916F0E1}" presName="compNode" presStyleCnt="0"/>
      <dgm:spPr/>
    </dgm:pt>
    <dgm:pt modelId="{B676451F-B167-433A-B9DC-8301ED518B54}" type="pres">
      <dgm:prSet presAssocID="{09713C3F-C20A-46C9-A6E6-CBFB4916F0E1}" presName="iconBgRect" presStyleLbl="bgShp" presStyleIdx="0" presStyleCnt="3"/>
      <dgm:spPr/>
    </dgm:pt>
    <dgm:pt modelId="{FC766C5D-53B1-496B-9EF7-BC17F5021615}" type="pres">
      <dgm:prSet presAssocID="{09713C3F-C20A-46C9-A6E6-CBFB4916F0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2AFB8DD7-BC9A-4887-BE53-51700B609DBB}" type="pres">
      <dgm:prSet presAssocID="{09713C3F-C20A-46C9-A6E6-CBFB4916F0E1}" presName="spaceRect" presStyleCnt="0"/>
      <dgm:spPr/>
    </dgm:pt>
    <dgm:pt modelId="{49C8EA7E-5834-40E5-B2EC-7297B0E3B965}" type="pres">
      <dgm:prSet presAssocID="{09713C3F-C20A-46C9-A6E6-CBFB4916F0E1}" presName="textRect" presStyleLbl="revTx" presStyleIdx="0" presStyleCnt="3">
        <dgm:presLayoutVars>
          <dgm:chMax val="1"/>
          <dgm:chPref val="1"/>
        </dgm:presLayoutVars>
      </dgm:prSet>
      <dgm:spPr/>
    </dgm:pt>
    <dgm:pt modelId="{B9D0C7D1-80BE-4CDE-8886-DA311F6C8C9D}" type="pres">
      <dgm:prSet presAssocID="{BADD965F-F826-45EF-B959-DEDAD4B4EF67}" presName="sibTrans" presStyleLbl="sibTrans2D1" presStyleIdx="0" presStyleCnt="0"/>
      <dgm:spPr/>
    </dgm:pt>
    <dgm:pt modelId="{AACD5D2F-581B-4013-9BA2-C32F820031AB}" type="pres">
      <dgm:prSet presAssocID="{D977EC9D-B98D-4550-AA20-98FBA44C6F44}" presName="compNode" presStyleCnt="0"/>
      <dgm:spPr/>
    </dgm:pt>
    <dgm:pt modelId="{23791B4E-3FCE-4706-B7BE-7B07495C9B3D}" type="pres">
      <dgm:prSet presAssocID="{D977EC9D-B98D-4550-AA20-98FBA44C6F44}" presName="iconBgRect" presStyleLbl="bgShp" presStyleIdx="1" presStyleCnt="3"/>
      <dgm:spPr/>
    </dgm:pt>
    <dgm:pt modelId="{32A14317-551D-4BF6-8B15-1F0215A61144}" type="pres">
      <dgm:prSet presAssocID="{D977EC9D-B98D-4550-AA20-98FBA44C6F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8D43DD8-FF93-488C-8914-E4153644AD7B}" type="pres">
      <dgm:prSet presAssocID="{D977EC9D-B98D-4550-AA20-98FBA44C6F44}" presName="spaceRect" presStyleCnt="0"/>
      <dgm:spPr/>
    </dgm:pt>
    <dgm:pt modelId="{06D9279B-0FF8-4770-9F9C-524C3C5D65EA}" type="pres">
      <dgm:prSet presAssocID="{D977EC9D-B98D-4550-AA20-98FBA44C6F44}" presName="textRect" presStyleLbl="revTx" presStyleIdx="1" presStyleCnt="3">
        <dgm:presLayoutVars>
          <dgm:chMax val="1"/>
          <dgm:chPref val="1"/>
        </dgm:presLayoutVars>
      </dgm:prSet>
      <dgm:spPr/>
    </dgm:pt>
    <dgm:pt modelId="{A5E65BC4-E700-425B-99E9-F234F9728B2A}" type="pres">
      <dgm:prSet presAssocID="{C7392360-E9E0-4E91-AAE8-7F47AA881262}" presName="sibTrans" presStyleLbl="sibTrans2D1" presStyleIdx="0" presStyleCnt="0"/>
      <dgm:spPr/>
    </dgm:pt>
    <dgm:pt modelId="{3E6757BA-98BE-4629-8715-2ED53C6CD2BA}" type="pres">
      <dgm:prSet presAssocID="{F78F7B2A-54F5-4E63-A56E-71ACD763CD7E}" presName="compNode" presStyleCnt="0"/>
      <dgm:spPr/>
    </dgm:pt>
    <dgm:pt modelId="{DBC77249-1E9B-447E-9D81-4B43DE9DFEA9}" type="pres">
      <dgm:prSet presAssocID="{F78F7B2A-54F5-4E63-A56E-71ACD763CD7E}" presName="iconBgRect" presStyleLbl="bgShp" presStyleIdx="2" presStyleCnt="3"/>
      <dgm:spPr/>
    </dgm:pt>
    <dgm:pt modelId="{E6A60B9A-6436-4373-A841-84D1818BB97A}" type="pres">
      <dgm:prSet presAssocID="{F78F7B2A-54F5-4E63-A56E-71ACD763CD7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42D26C51-1515-4987-B0BC-4E1BF64613AB}" type="pres">
      <dgm:prSet presAssocID="{F78F7B2A-54F5-4E63-A56E-71ACD763CD7E}" presName="spaceRect" presStyleCnt="0"/>
      <dgm:spPr/>
    </dgm:pt>
    <dgm:pt modelId="{102AC5B8-D134-47AC-9C42-13E9A634F2B1}" type="pres">
      <dgm:prSet presAssocID="{F78F7B2A-54F5-4E63-A56E-71ACD763CD7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C794E09-F7F9-4168-BD95-7DF0C5EAD1B5}" type="presOf" srcId="{C7392360-E9E0-4E91-AAE8-7F47AA881262}" destId="{A5E65BC4-E700-425B-99E9-F234F9728B2A}" srcOrd="0" destOrd="0" presId="urn:microsoft.com/office/officeart/2018/2/layout/IconCircleList"/>
    <dgm:cxn modelId="{EB20B112-FD27-4344-8478-AE4B49D8A40A}" type="presOf" srcId="{F39E4BC6-CE52-4B60-87FE-B9006AB9917A}" destId="{70C65F3F-ABD7-4912-8900-757161D094BC}" srcOrd="0" destOrd="0" presId="urn:microsoft.com/office/officeart/2018/2/layout/IconCircleList"/>
    <dgm:cxn modelId="{EA162B68-B1D5-48E8-AE62-A25C44458B66}" srcId="{F39E4BC6-CE52-4B60-87FE-B9006AB9917A}" destId="{F78F7B2A-54F5-4E63-A56E-71ACD763CD7E}" srcOrd="2" destOrd="0" parTransId="{D06599FE-24B5-4984-8D8D-133F1E4978CB}" sibTransId="{B644F837-400D-4CF4-83D1-6BEF381B8D34}"/>
    <dgm:cxn modelId="{1329398E-87C7-4BA8-9575-5695E8FA9B3A}" srcId="{F39E4BC6-CE52-4B60-87FE-B9006AB9917A}" destId="{09713C3F-C20A-46C9-A6E6-CBFB4916F0E1}" srcOrd="0" destOrd="0" parTransId="{50D57CFC-684C-4FD5-8849-F442A65F03CE}" sibTransId="{BADD965F-F826-45EF-B959-DEDAD4B4EF67}"/>
    <dgm:cxn modelId="{F91767A4-D4C7-4D78-992C-214CFBEB786F}" srcId="{F39E4BC6-CE52-4B60-87FE-B9006AB9917A}" destId="{D977EC9D-B98D-4550-AA20-98FBA44C6F44}" srcOrd="1" destOrd="0" parTransId="{90EE0F8E-E7F9-4480-8114-449938285AC9}" sibTransId="{C7392360-E9E0-4E91-AAE8-7F47AA881262}"/>
    <dgm:cxn modelId="{92EA5AA8-079A-4358-9A4A-489F2B779C7A}" type="presOf" srcId="{09713C3F-C20A-46C9-A6E6-CBFB4916F0E1}" destId="{49C8EA7E-5834-40E5-B2EC-7297B0E3B965}" srcOrd="0" destOrd="0" presId="urn:microsoft.com/office/officeart/2018/2/layout/IconCircleList"/>
    <dgm:cxn modelId="{66809AC1-C80C-4EF4-B30E-214E1B878E02}" type="presOf" srcId="{BADD965F-F826-45EF-B959-DEDAD4B4EF67}" destId="{B9D0C7D1-80BE-4CDE-8886-DA311F6C8C9D}" srcOrd="0" destOrd="0" presId="urn:microsoft.com/office/officeart/2018/2/layout/IconCircleList"/>
    <dgm:cxn modelId="{F54BBEC6-DCA5-4DE7-8C76-74731586DE3E}" type="presOf" srcId="{D977EC9D-B98D-4550-AA20-98FBA44C6F44}" destId="{06D9279B-0FF8-4770-9F9C-524C3C5D65EA}" srcOrd="0" destOrd="0" presId="urn:microsoft.com/office/officeart/2018/2/layout/IconCircleList"/>
    <dgm:cxn modelId="{A8FA82CC-37C2-4663-8103-5FDF18089F6D}" type="presOf" srcId="{F78F7B2A-54F5-4E63-A56E-71ACD763CD7E}" destId="{102AC5B8-D134-47AC-9C42-13E9A634F2B1}" srcOrd="0" destOrd="0" presId="urn:microsoft.com/office/officeart/2018/2/layout/IconCircleList"/>
    <dgm:cxn modelId="{1C24B1D9-4899-48A5-9946-6FEA2B1F23C2}" type="presParOf" srcId="{70C65F3F-ABD7-4912-8900-757161D094BC}" destId="{C545F205-7374-4EF4-ABCD-C9C8B3496B6A}" srcOrd="0" destOrd="0" presId="urn:microsoft.com/office/officeart/2018/2/layout/IconCircleList"/>
    <dgm:cxn modelId="{413BAA60-F39E-4FEA-9890-73929AC84705}" type="presParOf" srcId="{C545F205-7374-4EF4-ABCD-C9C8B3496B6A}" destId="{64EDCA90-A63E-4EC9-8B8D-75F648F9B82A}" srcOrd="0" destOrd="0" presId="urn:microsoft.com/office/officeart/2018/2/layout/IconCircleList"/>
    <dgm:cxn modelId="{A05D8895-5C47-4968-8AFB-9B8C2AC3674A}" type="presParOf" srcId="{64EDCA90-A63E-4EC9-8B8D-75F648F9B82A}" destId="{B676451F-B167-433A-B9DC-8301ED518B54}" srcOrd="0" destOrd="0" presId="urn:microsoft.com/office/officeart/2018/2/layout/IconCircleList"/>
    <dgm:cxn modelId="{25C3F442-7416-4696-8465-CE2083F0D213}" type="presParOf" srcId="{64EDCA90-A63E-4EC9-8B8D-75F648F9B82A}" destId="{FC766C5D-53B1-496B-9EF7-BC17F5021615}" srcOrd="1" destOrd="0" presId="urn:microsoft.com/office/officeart/2018/2/layout/IconCircleList"/>
    <dgm:cxn modelId="{F055B5A9-24FE-4110-A48E-8AAEDCC6D44D}" type="presParOf" srcId="{64EDCA90-A63E-4EC9-8B8D-75F648F9B82A}" destId="{2AFB8DD7-BC9A-4887-BE53-51700B609DBB}" srcOrd="2" destOrd="0" presId="urn:microsoft.com/office/officeart/2018/2/layout/IconCircleList"/>
    <dgm:cxn modelId="{8270283A-878B-40DD-A0F8-1CA087C94586}" type="presParOf" srcId="{64EDCA90-A63E-4EC9-8B8D-75F648F9B82A}" destId="{49C8EA7E-5834-40E5-B2EC-7297B0E3B965}" srcOrd="3" destOrd="0" presId="urn:microsoft.com/office/officeart/2018/2/layout/IconCircleList"/>
    <dgm:cxn modelId="{9172AD7C-692A-490E-9C65-1C8F93E63DE4}" type="presParOf" srcId="{C545F205-7374-4EF4-ABCD-C9C8B3496B6A}" destId="{B9D0C7D1-80BE-4CDE-8886-DA311F6C8C9D}" srcOrd="1" destOrd="0" presId="urn:microsoft.com/office/officeart/2018/2/layout/IconCircleList"/>
    <dgm:cxn modelId="{329F329A-88E6-453C-BE34-46EDBD093B5D}" type="presParOf" srcId="{C545F205-7374-4EF4-ABCD-C9C8B3496B6A}" destId="{AACD5D2F-581B-4013-9BA2-C32F820031AB}" srcOrd="2" destOrd="0" presId="urn:microsoft.com/office/officeart/2018/2/layout/IconCircleList"/>
    <dgm:cxn modelId="{F10851DB-48F7-479C-8C85-41E8A26413B8}" type="presParOf" srcId="{AACD5D2F-581B-4013-9BA2-C32F820031AB}" destId="{23791B4E-3FCE-4706-B7BE-7B07495C9B3D}" srcOrd="0" destOrd="0" presId="urn:microsoft.com/office/officeart/2018/2/layout/IconCircleList"/>
    <dgm:cxn modelId="{31BAF580-3FA0-4CA9-A713-D130FE48989C}" type="presParOf" srcId="{AACD5D2F-581B-4013-9BA2-C32F820031AB}" destId="{32A14317-551D-4BF6-8B15-1F0215A61144}" srcOrd="1" destOrd="0" presId="urn:microsoft.com/office/officeart/2018/2/layout/IconCircleList"/>
    <dgm:cxn modelId="{EBE0E925-545B-4F0A-962A-14ECA1F1BA14}" type="presParOf" srcId="{AACD5D2F-581B-4013-9BA2-C32F820031AB}" destId="{48D43DD8-FF93-488C-8914-E4153644AD7B}" srcOrd="2" destOrd="0" presId="urn:microsoft.com/office/officeart/2018/2/layout/IconCircleList"/>
    <dgm:cxn modelId="{1591EF41-BDAC-4676-927E-D5DC6CE4069D}" type="presParOf" srcId="{AACD5D2F-581B-4013-9BA2-C32F820031AB}" destId="{06D9279B-0FF8-4770-9F9C-524C3C5D65EA}" srcOrd="3" destOrd="0" presId="urn:microsoft.com/office/officeart/2018/2/layout/IconCircleList"/>
    <dgm:cxn modelId="{6BD58B14-F3D9-4B7B-A662-01DE53B39F9C}" type="presParOf" srcId="{C545F205-7374-4EF4-ABCD-C9C8B3496B6A}" destId="{A5E65BC4-E700-425B-99E9-F234F9728B2A}" srcOrd="3" destOrd="0" presId="urn:microsoft.com/office/officeart/2018/2/layout/IconCircleList"/>
    <dgm:cxn modelId="{96BDC2D7-9946-482D-A362-A50C273B51F0}" type="presParOf" srcId="{C545F205-7374-4EF4-ABCD-C9C8B3496B6A}" destId="{3E6757BA-98BE-4629-8715-2ED53C6CD2BA}" srcOrd="4" destOrd="0" presId="urn:microsoft.com/office/officeart/2018/2/layout/IconCircleList"/>
    <dgm:cxn modelId="{B8A29E41-99BD-4F1B-B012-C62F5A33FD7A}" type="presParOf" srcId="{3E6757BA-98BE-4629-8715-2ED53C6CD2BA}" destId="{DBC77249-1E9B-447E-9D81-4B43DE9DFEA9}" srcOrd="0" destOrd="0" presId="urn:microsoft.com/office/officeart/2018/2/layout/IconCircleList"/>
    <dgm:cxn modelId="{D25B9B44-EB53-468D-A617-DB49D239C3C6}" type="presParOf" srcId="{3E6757BA-98BE-4629-8715-2ED53C6CD2BA}" destId="{E6A60B9A-6436-4373-A841-84D1818BB97A}" srcOrd="1" destOrd="0" presId="urn:microsoft.com/office/officeart/2018/2/layout/IconCircleList"/>
    <dgm:cxn modelId="{FB81B93D-14D5-4AE9-ADB2-017AF2A661FE}" type="presParOf" srcId="{3E6757BA-98BE-4629-8715-2ED53C6CD2BA}" destId="{42D26C51-1515-4987-B0BC-4E1BF64613AB}" srcOrd="2" destOrd="0" presId="urn:microsoft.com/office/officeart/2018/2/layout/IconCircleList"/>
    <dgm:cxn modelId="{E0CBBCCE-012B-404A-B6D0-8D8E89690542}" type="presParOf" srcId="{3E6757BA-98BE-4629-8715-2ED53C6CD2BA}" destId="{102AC5B8-D134-47AC-9C42-13E9A634F2B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7F87D-29F3-4F6F-9AE2-919CA83E4960}">
      <dsp:nvSpPr>
        <dsp:cNvPr id="0" name=""/>
        <dsp:cNvSpPr/>
      </dsp:nvSpPr>
      <dsp:spPr>
        <a:xfrm>
          <a:off x="0" y="109241"/>
          <a:ext cx="10353761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Dr. Louise Banks, a linguist, is selected to translate the language of extraterrestrials called Heptapods.</a:t>
          </a:r>
        </a:p>
      </dsp:txBody>
      <dsp:txXfrm>
        <a:off x="64083" y="173324"/>
        <a:ext cx="10225595" cy="1184574"/>
      </dsp:txXfrm>
    </dsp:sp>
    <dsp:sp modelId="{F2EC5301-53D9-4545-A339-47EBD64F3222}">
      <dsp:nvSpPr>
        <dsp:cNvPr id="0" name=""/>
        <dsp:cNvSpPr/>
      </dsp:nvSpPr>
      <dsp:spPr>
        <a:xfrm>
          <a:off x="0" y="1519901"/>
          <a:ext cx="10353761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Heptapod’s</a:t>
          </a:r>
          <a:r>
            <a:rPr lang="en-US" sz="3400" kern="1200" dirty="0"/>
            <a:t> language consists of complex symbols or “Logograms”. </a:t>
          </a:r>
        </a:p>
      </dsp:txBody>
      <dsp:txXfrm>
        <a:off x="64083" y="1583984"/>
        <a:ext cx="10225595" cy="1184574"/>
      </dsp:txXfrm>
    </dsp:sp>
    <dsp:sp modelId="{83A37122-AD00-48D5-A384-EB40EF3D058E}">
      <dsp:nvSpPr>
        <dsp:cNvPr id="0" name=""/>
        <dsp:cNvSpPr/>
      </dsp:nvSpPr>
      <dsp:spPr>
        <a:xfrm>
          <a:off x="0" y="2930562"/>
          <a:ext cx="10353761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Dr. Louise Banks uses semantic analysis, pattern recognition, and contextual interpretation.</a:t>
          </a:r>
        </a:p>
      </dsp:txBody>
      <dsp:txXfrm>
        <a:off x="64083" y="2994645"/>
        <a:ext cx="10225595" cy="1184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6451F-B167-433A-B9DC-8301ED518B54}">
      <dsp:nvSpPr>
        <dsp:cNvPr id="0" name=""/>
        <dsp:cNvSpPr/>
      </dsp:nvSpPr>
      <dsp:spPr>
        <a:xfrm>
          <a:off x="441730" y="1706568"/>
          <a:ext cx="939406" cy="9394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66C5D-53B1-496B-9EF7-BC17F5021615}">
      <dsp:nvSpPr>
        <dsp:cNvPr id="0" name=""/>
        <dsp:cNvSpPr/>
      </dsp:nvSpPr>
      <dsp:spPr>
        <a:xfrm>
          <a:off x="639005" y="1903844"/>
          <a:ext cx="544855" cy="544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8EA7E-5834-40E5-B2EC-7297B0E3B965}">
      <dsp:nvSpPr>
        <dsp:cNvPr id="0" name=""/>
        <dsp:cNvSpPr/>
      </dsp:nvSpPr>
      <dsp:spPr>
        <a:xfrm>
          <a:off x="1582438" y="1706568"/>
          <a:ext cx="2214315" cy="939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 dirty="0">
              <a:solidFill>
                <a:schemeClr val="bg1"/>
              </a:solidFill>
            </a:rPr>
            <a:t>Arrival</a:t>
          </a:r>
          <a:r>
            <a:rPr lang="en-US" sz="2400" kern="1200" dirty="0">
              <a:solidFill>
                <a:schemeClr val="bg1"/>
              </a:solidFill>
            </a:rPr>
            <a:t> emphasizes the Whorfian hypothesis of language shapes thoughts.</a:t>
          </a:r>
        </a:p>
      </dsp:txBody>
      <dsp:txXfrm>
        <a:off x="1582438" y="1706568"/>
        <a:ext cx="2214315" cy="939406"/>
      </dsp:txXfrm>
    </dsp:sp>
    <dsp:sp modelId="{23791B4E-3FCE-4706-B7BE-7B07495C9B3D}">
      <dsp:nvSpPr>
        <dsp:cNvPr id="0" name=""/>
        <dsp:cNvSpPr/>
      </dsp:nvSpPr>
      <dsp:spPr>
        <a:xfrm>
          <a:off x="4182581" y="1706568"/>
          <a:ext cx="939406" cy="9394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14317-551D-4BF6-8B15-1F0215A61144}">
      <dsp:nvSpPr>
        <dsp:cNvPr id="0" name=""/>
        <dsp:cNvSpPr/>
      </dsp:nvSpPr>
      <dsp:spPr>
        <a:xfrm>
          <a:off x="4379856" y="1903844"/>
          <a:ext cx="544855" cy="544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9279B-0FF8-4770-9F9C-524C3C5D65EA}">
      <dsp:nvSpPr>
        <dsp:cNvPr id="0" name=""/>
        <dsp:cNvSpPr/>
      </dsp:nvSpPr>
      <dsp:spPr>
        <a:xfrm>
          <a:off x="5323289" y="1706568"/>
          <a:ext cx="2214315" cy="939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A challenge for  NLP, is understanding different linguistic structures. </a:t>
          </a:r>
        </a:p>
      </dsp:txBody>
      <dsp:txXfrm>
        <a:off x="5323289" y="1706568"/>
        <a:ext cx="2214315" cy="939406"/>
      </dsp:txXfrm>
    </dsp:sp>
    <dsp:sp modelId="{DBC77249-1E9B-447E-9D81-4B43DE9DFEA9}">
      <dsp:nvSpPr>
        <dsp:cNvPr id="0" name=""/>
        <dsp:cNvSpPr/>
      </dsp:nvSpPr>
      <dsp:spPr>
        <a:xfrm>
          <a:off x="7923432" y="1706568"/>
          <a:ext cx="939406" cy="9394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60B9A-6436-4373-A841-84D1818BB97A}">
      <dsp:nvSpPr>
        <dsp:cNvPr id="0" name=""/>
        <dsp:cNvSpPr/>
      </dsp:nvSpPr>
      <dsp:spPr>
        <a:xfrm>
          <a:off x="8120707" y="1903844"/>
          <a:ext cx="544855" cy="544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AC5B8-D134-47AC-9C42-13E9A634F2B1}">
      <dsp:nvSpPr>
        <dsp:cNvPr id="0" name=""/>
        <dsp:cNvSpPr/>
      </dsp:nvSpPr>
      <dsp:spPr>
        <a:xfrm>
          <a:off x="9064140" y="1706568"/>
          <a:ext cx="2214315" cy="939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An Ethical Concern: Misinterpretations in NLP (bias or misinformation) can have major effects.</a:t>
          </a:r>
        </a:p>
      </dsp:txBody>
      <dsp:txXfrm>
        <a:off x="9064140" y="1706568"/>
        <a:ext cx="2214315" cy="939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913795" y="2088319"/>
            <a:ext cx="5106004" cy="37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3403" y="2088319"/>
            <a:ext cx="5094154" cy="37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913795" y="2912232"/>
            <a:ext cx="5107208" cy="287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402003" y="2088320"/>
            <a:ext cx="4865554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912232"/>
            <a:ext cx="5095357" cy="287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man Old Style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078064" y="609600"/>
            <a:ext cx="6189492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917228" y="2971800"/>
            <a:ext cx="3932237" cy="281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7424804" y="758881"/>
            <a:ext cx="3255356" cy="4883038"/>
          </a:xfrm>
          <a:prstGeom prst="rect">
            <a:avLst/>
          </a:prstGeom>
          <a:noFill/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913794" y="2971800"/>
            <a:ext cx="593495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man Old Style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>
            <a:spLocks noGrp="1"/>
          </p:cNvSpPr>
          <p:nvPr>
            <p:ph type="pic" idx="2"/>
          </p:nvPr>
        </p:nvSpPr>
        <p:spPr>
          <a:xfrm>
            <a:off x="913806" y="621321"/>
            <a:ext cx="10367564" cy="3379735"/>
          </a:xfrm>
          <a:prstGeom prst="rect">
            <a:avLst/>
          </a:prstGeom>
          <a:noFill/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71" name="Google Shape;71;p22"/>
          <p:cNvSpPr txBox="1">
            <a:spLocks noGrp="1"/>
          </p:cNvSpPr>
          <p:nvPr>
            <p:ph type="body" idx="1"/>
          </p:nvPr>
        </p:nvSpPr>
        <p:spPr>
          <a:xfrm>
            <a:off x="913795" y="5108728"/>
            <a:ext cx="10365998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1"/>
          </p:nvPr>
        </p:nvSpPr>
        <p:spPr>
          <a:xfrm>
            <a:off x="913795" y="4204820"/>
            <a:ext cx="10353761" cy="1592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42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body" idx="2"/>
          </p:nvPr>
        </p:nvSpPr>
        <p:spPr>
          <a:xfrm>
            <a:off x="913794" y="4204821"/>
            <a:ext cx="10353762" cy="158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4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ckwell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“</a:t>
            </a:r>
            <a:endParaRPr/>
          </a:p>
        </p:txBody>
      </p:sp>
      <p:sp>
        <p:nvSpPr>
          <p:cNvPr id="89" name="Google Shape;89;p24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ckwell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body" idx="1"/>
          </p:nvPr>
        </p:nvSpPr>
        <p:spPr>
          <a:xfrm>
            <a:off x="913794" y="4650556"/>
            <a:ext cx="10353763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2"/>
          </p:nvPr>
        </p:nvSpPr>
        <p:spPr>
          <a:xfrm>
            <a:off x="913794" y="2911624"/>
            <a:ext cx="3298956" cy="28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3"/>
          </p:nvPr>
        </p:nvSpPr>
        <p:spPr>
          <a:xfrm>
            <a:off x="4444878" y="2088320"/>
            <a:ext cx="3298558" cy="82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body" idx="4"/>
          </p:nvPr>
        </p:nvSpPr>
        <p:spPr>
          <a:xfrm>
            <a:off x="4444878" y="2911624"/>
            <a:ext cx="3299821" cy="28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body" idx="5"/>
          </p:nvPr>
        </p:nvSpPr>
        <p:spPr>
          <a:xfrm>
            <a:off x="7973298" y="2088320"/>
            <a:ext cx="3291211" cy="82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body" idx="6"/>
          </p:nvPr>
        </p:nvSpPr>
        <p:spPr>
          <a:xfrm>
            <a:off x="7976346" y="2911624"/>
            <a:ext cx="3291211" cy="28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p27"/>
          <p:cNvSpPr>
            <a:spLocks noGrp="1"/>
          </p:cNvSpPr>
          <p:nvPr>
            <p:ph type="pic" idx="2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1" name="Google Shape;111;p27"/>
          <p:cNvSpPr txBox="1">
            <a:spLocks noGrp="1"/>
          </p:cNvSpPr>
          <p:nvPr>
            <p:ph type="body" idx="3"/>
          </p:nvPr>
        </p:nvSpPr>
        <p:spPr>
          <a:xfrm>
            <a:off x="913795" y="4772161"/>
            <a:ext cx="3298955" cy="101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4"/>
          </p:nvPr>
        </p:nvSpPr>
        <p:spPr>
          <a:xfrm>
            <a:off x="4442701" y="4195899"/>
            <a:ext cx="329898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27"/>
          <p:cNvSpPr>
            <a:spLocks noGrp="1"/>
          </p:cNvSpPr>
          <p:nvPr>
            <p:ph type="pic" idx="5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4" name="Google Shape;114;p27"/>
          <p:cNvSpPr txBox="1">
            <a:spLocks noGrp="1"/>
          </p:cNvSpPr>
          <p:nvPr>
            <p:ph type="body" idx="6"/>
          </p:nvPr>
        </p:nvSpPr>
        <p:spPr>
          <a:xfrm>
            <a:off x="4441348" y="4772160"/>
            <a:ext cx="3300336" cy="101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body" idx="7"/>
          </p:nvPr>
        </p:nvSpPr>
        <p:spPr>
          <a:xfrm>
            <a:off x="7973423" y="4195899"/>
            <a:ext cx="32899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27"/>
          <p:cNvSpPr>
            <a:spLocks noGrp="1"/>
          </p:cNvSpPr>
          <p:nvPr>
            <p:ph type="pic" idx="8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7" name="Google Shape;117;p27"/>
          <p:cNvSpPr txBox="1">
            <a:spLocks noGrp="1"/>
          </p:cNvSpPr>
          <p:nvPr>
            <p:ph type="body" idx="9"/>
          </p:nvPr>
        </p:nvSpPr>
        <p:spPr>
          <a:xfrm>
            <a:off x="7973298" y="4772161"/>
            <a:ext cx="3294258" cy="101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body" idx="1"/>
          </p:nvPr>
        </p:nvSpPr>
        <p:spPr>
          <a:xfrm rot="5400000">
            <a:off x="4243108" y="-1233249"/>
            <a:ext cx="3695136" cy="103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>
            <a:spLocks noGrp="1"/>
          </p:cNvSpPr>
          <p:nvPr>
            <p:ph type="title"/>
          </p:nvPr>
        </p:nvSpPr>
        <p:spPr>
          <a:xfrm rot="5400000">
            <a:off x="7405428" y="1929071"/>
            <a:ext cx="5181601" cy="254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1"/>
          </p:nvPr>
        </p:nvSpPr>
        <p:spPr>
          <a:xfrm rot="5400000">
            <a:off x="2152346" y="-628953"/>
            <a:ext cx="5181601" cy="7658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 sz="3400" b="1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Bookman Old Style"/>
              <a:buNone/>
              <a:defRPr sz="34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913800" y="643475"/>
            <a:ext cx="10891200" cy="3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Bookman Old Style"/>
              <a:buNone/>
            </a:pPr>
            <a:r>
              <a:rPr lang="en-US" sz="4600" b="1"/>
              <a:t>EXPLORING LANGUAGE </a:t>
            </a:r>
            <a:r>
              <a:rPr lang="en-US" sz="4600"/>
              <a:t>&amp;</a:t>
            </a:r>
            <a:r>
              <a:rPr lang="en-US" sz="4600" b="1"/>
              <a:t> NLP CHALLENGES </a:t>
            </a:r>
            <a:r>
              <a:rPr lang="en-US" sz="4600"/>
              <a:t>FROM </a:t>
            </a:r>
            <a:endParaRPr sz="46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Bookman Old Style"/>
              <a:buNone/>
            </a:pPr>
            <a:r>
              <a:rPr lang="en-US" sz="4600" b="1"/>
              <a:t>"ARRIVAL" (2016)</a:t>
            </a:r>
            <a:br>
              <a:rPr lang="en-US" sz="4600"/>
            </a:br>
            <a:endParaRPr sz="4600"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200"/>
              <a:t>Presented by: Group 04 Lufei Yu, Oman Malek, Tien Manh Nguyen, Phillip Torres</a:t>
            </a:r>
            <a:br>
              <a:rPr lang="en-US" sz="3200"/>
            </a:br>
            <a:r>
              <a:rPr lang="en-US" sz="3200"/>
              <a:t>Course: ITAI 2376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b="1"/>
              <a:t>INTRODUCTION</a:t>
            </a:r>
            <a:br>
              <a:rPr lang="en-US" b="1"/>
            </a:br>
            <a:endParaRPr/>
          </a:p>
        </p:txBody>
      </p:sp>
      <p:sp>
        <p:nvSpPr>
          <p:cNvPr id="158" name="Google Shape;158;p2"/>
          <p:cNvSpPr/>
          <p:nvPr/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59" name="Google Shape;159;p2"/>
          <p:cNvGrpSpPr/>
          <p:nvPr/>
        </p:nvGrpSpPr>
        <p:grpSpPr>
          <a:xfrm>
            <a:off x="914400" y="2418847"/>
            <a:ext cx="10353675" cy="3302590"/>
            <a:chOff x="0" y="1614"/>
            <a:chExt cx="10353675" cy="3302590"/>
          </a:xfrm>
        </p:grpSpPr>
        <p:cxnSp>
          <p:nvCxnSpPr>
            <p:cNvPr id="160" name="Google Shape;160;p2"/>
            <p:cNvCxnSpPr/>
            <p:nvPr/>
          </p:nvCxnSpPr>
          <p:spPr>
            <a:xfrm>
              <a:off x="0" y="1614"/>
              <a:ext cx="10353675" cy="0"/>
            </a:xfrm>
            <a:prstGeom prst="straightConnector1">
              <a:avLst/>
            </a:prstGeom>
            <a:solidFill>
              <a:srgbClr val="C44D6F"/>
            </a:solidFill>
            <a:ln w="19050" cap="flat" cmpd="sng">
              <a:solidFill>
                <a:srgbClr val="C44D6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1" name="Google Shape;161;p2"/>
            <p:cNvSpPr/>
            <p:nvPr/>
          </p:nvSpPr>
          <p:spPr>
            <a:xfrm>
              <a:off x="0" y="1614"/>
              <a:ext cx="10353675" cy="1100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0" y="1614"/>
              <a:ext cx="10353675" cy="1100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ckwell"/>
                <a:buNone/>
              </a:pPr>
              <a:r>
                <a:rPr lang="en-US" sz="2800" b="0" i="1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Arrival</a:t>
              </a:r>
              <a:r>
                <a:rPr lang="en-US" sz="28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 (2016), directed by Denis Villeneuve, explores contact with extraterrestrials through communication and language.</a:t>
              </a:r>
              <a:endParaRPr/>
            </a:p>
          </p:txBody>
        </p:sp>
        <p:cxnSp>
          <p:nvCxnSpPr>
            <p:cNvPr id="163" name="Google Shape;163;p2"/>
            <p:cNvCxnSpPr/>
            <p:nvPr/>
          </p:nvCxnSpPr>
          <p:spPr>
            <a:xfrm>
              <a:off x="0" y="1102478"/>
              <a:ext cx="10353675" cy="0"/>
            </a:xfrm>
            <a:prstGeom prst="straightConnector1">
              <a:avLst/>
            </a:prstGeom>
            <a:solidFill>
              <a:srgbClr val="44BBD0"/>
            </a:solidFill>
            <a:ln w="19050" cap="flat" cmpd="sng">
              <a:solidFill>
                <a:srgbClr val="44BBD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" name="Google Shape;164;p2"/>
            <p:cNvSpPr/>
            <p:nvPr/>
          </p:nvSpPr>
          <p:spPr>
            <a:xfrm>
              <a:off x="0" y="1102478"/>
              <a:ext cx="10353675" cy="1100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0" y="1102478"/>
              <a:ext cx="10353675" cy="1100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ckwell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The </a:t>
              </a:r>
              <a:r>
                <a:rPr lang="en-US" sz="2800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film </a:t>
              </a:r>
              <a:r>
                <a:rPr lang="en-US" sz="2800" b="0" i="0" u="none" strike="noStrike" cap="none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presents linguistic challenges that are similar to Real-World Natural Language Processing (NLP) challenges.</a:t>
              </a:r>
              <a:endParaRPr dirty="0"/>
            </a:p>
          </p:txBody>
        </p:sp>
        <p:cxnSp>
          <p:nvCxnSpPr>
            <p:cNvPr id="166" name="Google Shape;166;p2"/>
            <p:cNvCxnSpPr/>
            <p:nvPr/>
          </p:nvCxnSpPr>
          <p:spPr>
            <a:xfrm>
              <a:off x="0" y="2203341"/>
              <a:ext cx="10353675" cy="0"/>
            </a:xfrm>
            <a:prstGeom prst="straightConnector1">
              <a:avLst/>
            </a:prstGeom>
            <a:solidFill>
              <a:srgbClr val="DC9A3B"/>
            </a:solidFill>
            <a:ln w="19050" cap="flat" cmpd="sng">
              <a:solidFill>
                <a:srgbClr val="DC9A3B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7" name="Google Shape;167;p2"/>
            <p:cNvSpPr/>
            <p:nvPr/>
          </p:nvSpPr>
          <p:spPr>
            <a:xfrm>
              <a:off x="0" y="2203341"/>
              <a:ext cx="10353675" cy="1100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0" y="2203341"/>
              <a:ext cx="10353675" cy="1100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Rockwell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We cover key NLP challenges and their connection to the film’s display of communication and language. 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Bookman Old Style"/>
              <a:buNone/>
            </a:pPr>
            <a:r>
              <a:rPr lang="en-US" b="1"/>
              <a:t>SUMMARY OF "ARRIVAL" </a:t>
            </a:r>
            <a:r>
              <a:rPr lang="en-US"/>
              <a:t>(2016)</a:t>
            </a:r>
            <a:br>
              <a:rPr lang="en-US" b="1"/>
            </a:br>
            <a:endParaRPr lang="en-US"/>
          </a:p>
        </p:txBody>
      </p:sp>
      <p:graphicFrame>
        <p:nvGraphicFramePr>
          <p:cNvPr id="176" name="Google Shape;174;p3">
            <a:extLst>
              <a:ext uri="{FF2B5EF4-FFF2-40B4-BE49-F238E27FC236}">
                <a16:creationId xmlns:a16="http://schemas.microsoft.com/office/drawing/2014/main" id="{EEE435B0-387B-19F8-DF36-1BEA0C5CC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6726441"/>
              </p:ext>
            </p:extLst>
          </p:nvPr>
        </p:nvGraphicFramePr>
        <p:xfrm>
          <a:off x="913795" y="2126421"/>
          <a:ext cx="10353761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4"/>
          <p:cNvPicPr preferRelativeResize="0"/>
          <p:nvPr/>
        </p:nvPicPr>
        <p:blipFill rotWithShape="1">
          <a:blip r:embed="rId4">
            <a:alphaModFix amt="35000"/>
          </a:blip>
          <a:srcRect t="29"/>
          <a:stretch/>
        </p:blipFill>
        <p:spPr>
          <a:xfrm>
            <a:off x="20" y="2030"/>
            <a:ext cx="12191980" cy="68559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F445F">
                  <a:alpha val="3137"/>
                </a:srgbClr>
              </a:gs>
              <a:gs pos="32000">
                <a:srgbClr val="1F445F">
                  <a:alpha val="3137"/>
                </a:srgbClr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ckwel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b="1"/>
              <a:t>NLP CHALLENGES IN "ARRIVAL"</a:t>
            </a:r>
            <a:br>
              <a:rPr lang="en-US" b="1"/>
            </a:br>
            <a:endParaRPr/>
          </a:p>
        </p:txBody>
      </p:sp>
      <p:sp>
        <p:nvSpPr>
          <p:cNvPr id="183" name="Google Shape;183;p4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b="1" dirty="0"/>
              <a:t>1. Ambiguity &amp; Multiple Meanings</a:t>
            </a:r>
            <a:endParaRPr dirty="0"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dirty="0"/>
              <a:t>"Offer" vs. "Weapon“ is misinterpretation due to polysemy.</a:t>
            </a:r>
            <a:endParaRPr dirty="0"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dirty="0"/>
              <a:t>NLP models struggle with ambiguous and multi-meaning words that require contextual understanding.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b="1" dirty="0"/>
              <a:t>2. Idiomatic Expressions &amp; Cultural Differences</a:t>
            </a:r>
            <a:endParaRPr dirty="0"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dirty="0"/>
              <a:t>Human languages use idioms or metaphors, that are hard to translate.</a:t>
            </a:r>
            <a:endParaRPr dirty="0"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dirty="0"/>
              <a:t>NLP models struggle with non-literal expressions.</a:t>
            </a:r>
            <a:endParaRPr dirty="0"/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89" name="Google Shape;189;p5"/>
          <p:cNvSpPr txBox="1">
            <a:spLocks noGrp="1"/>
          </p:cNvSpPr>
          <p:nvPr>
            <p:ph type="title"/>
          </p:nvPr>
        </p:nvSpPr>
        <p:spPr>
          <a:xfrm>
            <a:off x="6435091" y="609600"/>
            <a:ext cx="4832465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Bookman Old Style"/>
              <a:buNone/>
            </a:pPr>
            <a:r>
              <a:rPr lang="en-US" sz="2900" b="1">
                <a:solidFill>
                  <a:srgbClr val="FFFFFF"/>
                </a:solidFill>
              </a:rPr>
              <a:t>NLP CHALLENGES IN "ARRIVAL"</a:t>
            </a:r>
            <a:br>
              <a:rPr lang="en-US" sz="2900" b="1">
                <a:solidFill>
                  <a:srgbClr val="FFFFFF"/>
                </a:solidFill>
              </a:rPr>
            </a:br>
            <a:endParaRPr sz="2900">
              <a:solidFill>
                <a:srgbClr val="FFFFFF"/>
              </a:solidFill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52475" y="733425"/>
            <a:ext cx="5229225" cy="5391150"/>
          </a:xfrm>
          <a:prstGeom prst="rect">
            <a:avLst/>
          </a:prstGeom>
          <a:solidFill>
            <a:schemeClr val="lt1"/>
          </a:solidFill>
          <a:ln w="190500" cap="sq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4991" dist="17780" dir="5400000" algn="ctr" rotWithShape="0">
              <a:schemeClr val="lt1">
                <a:alpha val="4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91" name="Google Shape;19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6880" y="1114868"/>
            <a:ext cx="3640413" cy="46282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/>
          <p:nvPr/>
        </p:nvSpPr>
        <p:spPr>
          <a:xfrm>
            <a:off x="812496" y="799817"/>
            <a:ext cx="5109182" cy="5258367"/>
          </a:xfrm>
          <a:prstGeom prst="rect">
            <a:avLst/>
          </a:prstGeom>
          <a:noFill/>
          <a:ln w="12700" cap="flat" cmpd="sng">
            <a:solidFill>
              <a:srgbClr val="2A5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93" name="Google Shape;193;p5"/>
          <p:cNvSpPr txBox="1">
            <a:spLocks noGrp="1"/>
          </p:cNvSpPr>
          <p:nvPr>
            <p:ph type="body" idx="1"/>
          </p:nvPr>
        </p:nvSpPr>
        <p:spPr>
          <a:xfrm>
            <a:off x="6435091" y="2096064"/>
            <a:ext cx="5589895" cy="396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lang="en-US" sz="1800" b="1" dirty="0">
                <a:solidFill>
                  <a:srgbClr val="FFFFFF"/>
                </a:solidFill>
              </a:rPr>
              <a:t>3. Semantics VS Syntax </a:t>
            </a:r>
            <a:endParaRPr dirty="0"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 dirty="0" err="1">
                <a:solidFill>
                  <a:srgbClr val="FFFFFF"/>
                </a:solidFill>
              </a:rPr>
              <a:t>Heptapod’s</a:t>
            </a:r>
            <a:r>
              <a:rPr lang="en-US" dirty="0">
                <a:solidFill>
                  <a:srgbClr val="FFFFFF"/>
                </a:solidFill>
              </a:rPr>
              <a:t> language express entire thoughts or expressions non-linearly.</a:t>
            </a:r>
            <a:endParaRPr dirty="0"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 dirty="0">
                <a:solidFill>
                  <a:srgbClr val="FFFFFF"/>
                </a:solidFill>
              </a:rPr>
              <a:t>NLP models are challenged  in extracting true meaning without structure or context.</a:t>
            </a:r>
            <a:endParaRPr dirty="0"/>
          </a:p>
          <a:p>
            <a:pPr marL="0" indent="0">
              <a:lnSpc>
                <a:spcPct val="110000"/>
              </a:lnSpc>
              <a:buClr>
                <a:srgbClr val="FFFFFF"/>
              </a:buClr>
              <a:buNone/>
            </a:pPr>
            <a:r>
              <a:rPr lang="en-US" sz="1800" b="1" dirty="0">
                <a:solidFill>
                  <a:srgbClr val="FFFFFF"/>
                </a:solidFill>
              </a:rPr>
              <a:t>4. Data Processing &amp; Symbolic Representation</a:t>
            </a:r>
          </a:p>
          <a:p>
            <a:pPr marL="742950" lvl="1" indent="-285750">
              <a:lnSpc>
                <a:spcPct val="110000"/>
              </a:lnSpc>
              <a:buClr>
                <a:srgbClr val="FFFFFF"/>
              </a:buClr>
            </a:pPr>
            <a:r>
              <a:rPr lang="en-US" dirty="0" err="1">
                <a:solidFill>
                  <a:srgbClr val="FFFFFF"/>
                </a:solidFill>
              </a:rPr>
              <a:t>Heptapods</a:t>
            </a:r>
            <a:r>
              <a:rPr lang="en-US" dirty="0">
                <a:solidFill>
                  <a:srgbClr val="FFFFFF"/>
                </a:solidFill>
              </a:rPr>
              <a:t>’ pictogram-based (picture based)  language involves pattern recognition.</a:t>
            </a:r>
            <a:endParaRPr dirty="0"/>
          </a:p>
          <a:p>
            <a:pPr marL="68580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 dirty="0">
                <a:solidFill>
                  <a:srgbClr val="FFFFFF"/>
                </a:solidFill>
              </a:rPr>
              <a:t>Similar to Optical Character Recognition (OCR) and machine translation in NLP.</a:t>
            </a:r>
            <a:endParaRPr dirty="0"/>
          </a:p>
          <a:p>
            <a:pPr marL="228600" lvl="0" indent="-1143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 txBox="1"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ookman Old Style"/>
              <a:buNone/>
            </a:pPr>
            <a:r>
              <a:rPr lang="en-US" sz="2600" b="1"/>
              <a:t>ANALYSIS OF COMMUNICATION METHODS IN "ARRIVAL" AND NLP PARALLELS</a:t>
            </a:r>
            <a:br>
              <a:rPr lang="en-US" sz="2600" b="1"/>
            </a:br>
            <a:endParaRPr sz="2600"/>
          </a:p>
        </p:txBody>
      </p:sp>
      <p:grpSp>
        <p:nvGrpSpPr>
          <p:cNvPr id="199" name="Google Shape;199;p6"/>
          <p:cNvGrpSpPr/>
          <p:nvPr/>
        </p:nvGrpSpPr>
        <p:grpSpPr>
          <a:xfrm>
            <a:off x="5127625" y="1143990"/>
            <a:ext cx="5924550" cy="4570020"/>
            <a:chOff x="0" y="29565"/>
            <a:chExt cx="5924550" cy="4570020"/>
          </a:xfrm>
        </p:grpSpPr>
        <p:sp>
          <p:nvSpPr>
            <p:cNvPr id="200" name="Google Shape;200;p6"/>
            <p:cNvSpPr/>
            <p:nvPr/>
          </p:nvSpPr>
          <p:spPr>
            <a:xfrm>
              <a:off x="0" y="339525"/>
              <a:ext cx="5924550" cy="1786050"/>
            </a:xfrm>
            <a:prstGeom prst="rect">
              <a:avLst/>
            </a:prstGeom>
            <a:solidFill>
              <a:srgbClr val="AADAFB">
                <a:alpha val="90196"/>
              </a:srgbClr>
            </a:solidFill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 txBox="1"/>
            <p:nvPr/>
          </p:nvSpPr>
          <p:spPr>
            <a:xfrm>
              <a:off x="0" y="339525"/>
              <a:ext cx="5924550" cy="1786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9800" tIns="437375" rIns="459800" bIns="1493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Rockwell"/>
                <a:buChar char="•"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Dr. Banks initially records symbols to hum</a:t>
              </a:r>
              <a:r>
                <a:rPr lang="en-US" sz="2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an </a:t>
              </a:r>
              <a:r>
                <a:rPr lang="en-US" sz="21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linguistic rules.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Rockwell"/>
                <a:buChar char="•"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Like rule-based NLP models that follow grammatical structure.</a:t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296227" y="29565"/>
              <a:ext cx="4147185" cy="61992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sy="96000" rotWithShape="0">
                <a:srgbClr val="000000">
                  <a:alpha val="5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326489" y="59827"/>
              <a:ext cx="4086661" cy="5593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6750" tIns="0" rIns="15675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Rockwell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1. Rule-Based NLP</a:t>
              </a:r>
              <a:endParaRPr sz="21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0" y="2548935"/>
              <a:ext cx="5924550" cy="2050650"/>
            </a:xfrm>
            <a:prstGeom prst="rect">
              <a:avLst/>
            </a:prstGeom>
            <a:solidFill>
              <a:srgbClr val="AADAFB">
                <a:alpha val="90196"/>
              </a:srgbClr>
            </a:solidFill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2548935"/>
              <a:ext cx="5924550" cy="2050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9800" tIns="437375" rIns="459800" bIns="1493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Rockwell"/>
                <a:buChar char="•"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Dr. Banks discovers patterns in the Heptapod-language.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Rockwell"/>
                <a:buChar char="•"/>
              </a:pPr>
              <a:r>
                <a:rPr lang="en-US" sz="21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NLP use</a:t>
              </a:r>
              <a:r>
                <a:rPr lang="en-US" sz="21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 </a:t>
              </a:r>
              <a:r>
                <a:rPr lang="en-US" sz="21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Hidden Markov Models (HMMs) for statistical pattern recognition.</a:t>
              </a: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296227" y="2238975"/>
              <a:ext cx="4147185" cy="61992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sy="96000" rotWithShape="0">
                <a:srgbClr val="000000">
                  <a:alpha val="5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 txBox="1"/>
            <p:nvPr/>
          </p:nvSpPr>
          <p:spPr>
            <a:xfrm>
              <a:off x="326489" y="2269237"/>
              <a:ext cx="4086661" cy="5593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6750" tIns="0" rIns="15675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Rockwell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2. Statistical NLP</a:t>
              </a:r>
              <a:endParaRPr sz="21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b="1"/>
              <a:t>DEEP LEARNING &amp; NLP</a:t>
            </a:r>
            <a:br>
              <a:rPr lang="en-US" b="1"/>
            </a:br>
            <a:endParaRPr/>
          </a:p>
        </p:txBody>
      </p:sp>
      <p:grpSp>
        <p:nvGrpSpPr>
          <p:cNvPr id="213" name="Google Shape;213;p7"/>
          <p:cNvGrpSpPr/>
          <p:nvPr/>
        </p:nvGrpSpPr>
        <p:grpSpPr>
          <a:xfrm>
            <a:off x="423750" y="2179600"/>
            <a:ext cx="11768247" cy="3692090"/>
            <a:chOff x="0" y="1804"/>
            <a:chExt cx="11216400" cy="3692090"/>
          </a:xfrm>
        </p:grpSpPr>
        <p:cxnSp>
          <p:nvCxnSpPr>
            <p:cNvPr id="214" name="Google Shape;214;p7"/>
            <p:cNvCxnSpPr/>
            <p:nvPr/>
          </p:nvCxnSpPr>
          <p:spPr>
            <a:xfrm>
              <a:off x="0" y="1804"/>
              <a:ext cx="10353675" cy="0"/>
            </a:xfrm>
            <a:prstGeom prst="straightConnector1">
              <a:avLst/>
            </a:prstGeom>
            <a:solidFill>
              <a:srgbClr val="9DC442"/>
            </a:solidFill>
            <a:ln w="19050" cap="flat" cmpd="sng">
              <a:solidFill>
                <a:srgbClr val="9DC4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5" name="Google Shape;215;p7"/>
            <p:cNvSpPr/>
            <p:nvPr/>
          </p:nvSpPr>
          <p:spPr>
            <a:xfrm>
              <a:off x="0" y="1804"/>
              <a:ext cx="10353675" cy="1230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0" y="1804"/>
              <a:ext cx="10353675" cy="1230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Rockwell"/>
                <a:buNone/>
              </a:pPr>
              <a:r>
                <a:rPr lang="en-US" sz="32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Dr. </a:t>
              </a:r>
              <a:r>
                <a:rPr lang="en-US" sz="32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Louise Banks fully understands the Heptapod language when she starts to think non-linearly.</a:t>
              </a:r>
              <a:endParaRPr/>
            </a:p>
          </p:txBody>
        </p:sp>
        <p:cxnSp>
          <p:nvCxnSpPr>
            <p:cNvPr id="217" name="Google Shape;217;p7"/>
            <p:cNvCxnSpPr/>
            <p:nvPr/>
          </p:nvCxnSpPr>
          <p:spPr>
            <a:xfrm>
              <a:off x="0" y="1232501"/>
              <a:ext cx="10353675" cy="0"/>
            </a:xfrm>
            <a:prstGeom prst="straightConnector1">
              <a:avLst/>
            </a:prstGeom>
            <a:solidFill>
              <a:srgbClr val="9DC442"/>
            </a:solidFill>
            <a:ln w="19050" cap="flat" cmpd="sng">
              <a:solidFill>
                <a:srgbClr val="9DC4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8" name="Google Shape;218;p7"/>
            <p:cNvSpPr/>
            <p:nvPr/>
          </p:nvSpPr>
          <p:spPr>
            <a:xfrm>
              <a:off x="0" y="1232501"/>
              <a:ext cx="10353675" cy="1230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0" y="1232504"/>
              <a:ext cx="11216400" cy="123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Rockwel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Deep </a:t>
              </a:r>
              <a:r>
                <a:rPr lang="en-US" sz="32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Learning</a:t>
              </a:r>
              <a:r>
                <a:rPr lang="en-US" sz="32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 NLP models (transformers) process languages </a:t>
              </a:r>
              <a:r>
                <a:rPr lang="en-US" sz="32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thoroughly</a:t>
              </a:r>
              <a:r>
                <a:rPr lang="en-US" sz="3200" b="0" i="0" u="none" strike="noStrike" cap="non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, capturing context and meaning.</a:t>
              </a:r>
              <a:endParaRPr/>
            </a:p>
          </p:txBody>
        </p:sp>
        <p:cxnSp>
          <p:nvCxnSpPr>
            <p:cNvPr id="220" name="Google Shape;220;p7"/>
            <p:cNvCxnSpPr/>
            <p:nvPr/>
          </p:nvCxnSpPr>
          <p:spPr>
            <a:xfrm>
              <a:off x="0" y="2463198"/>
              <a:ext cx="10353675" cy="0"/>
            </a:xfrm>
            <a:prstGeom prst="straightConnector1">
              <a:avLst/>
            </a:prstGeom>
            <a:solidFill>
              <a:srgbClr val="9DC442"/>
            </a:solidFill>
            <a:ln w="19050" cap="flat" cmpd="sng">
              <a:solidFill>
                <a:srgbClr val="9DC4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1" name="Google Shape;221;p7"/>
            <p:cNvSpPr/>
            <p:nvPr/>
          </p:nvSpPr>
          <p:spPr>
            <a:xfrm>
              <a:off x="0" y="2463198"/>
              <a:ext cx="10353675" cy="1230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 txBox="1"/>
            <p:nvPr/>
          </p:nvSpPr>
          <p:spPr>
            <a:xfrm>
              <a:off x="0" y="2463198"/>
              <a:ext cx="10353675" cy="1230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Rockwell"/>
                <a:buNone/>
              </a:pPr>
              <a:r>
                <a:rPr lang="en-US" sz="3200" b="0" i="0" u="none" strike="noStrike" cap="none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Real-world example: Chat GPT models learn from large amounts of </a:t>
              </a:r>
              <a:r>
                <a:rPr lang="en-US" sz="3200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data </a:t>
              </a:r>
              <a:r>
                <a:rPr lang="en-US" sz="3200" b="0" i="0" u="none" strike="noStrike" cap="none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to generate human-like</a:t>
              </a:r>
              <a:r>
                <a:rPr lang="en-US" sz="3200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 re</a:t>
              </a:r>
              <a:r>
                <a:rPr lang="en-US" sz="3200" b="0" i="0" u="none" strike="noStrike" cap="none" dirty="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sponses.</a:t>
              </a:r>
              <a:endParaRPr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kman Old Style"/>
              <a:buNone/>
            </a:pPr>
            <a:r>
              <a:rPr lang="en-US" b="1"/>
              <a:t>REFLECTION AND INSIGHTS</a:t>
            </a:r>
            <a:br>
              <a:rPr lang="en-US" b="1"/>
            </a:br>
            <a:endParaRPr lang="en-US"/>
          </a:p>
        </p:txBody>
      </p:sp>
      <p:graphicFrame>
        <p:nvGraphicFramePr>
          <p:cNvPr id="230" name="Google Shape;228;p8">
            <a:extLst>
              <a:ext uri="{FF2B5EF4-FFF2-40B4-BE49-F238E27FC236}">
                <a16:creationId xmlns:a16="http://schemas.microsoft.com/office/drawing/2014/main" id="{8563EED4-30C9-078C-D0E4-C1689D211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846252"/>
              </p:ext>
            </p:extLst>
          </p:nvPr>
        </p:nvGraphicFramePr>
        <p:xfrm>
          <a:off x="254696" y="1272760"/>
          <a:ext cx="11720186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5" name="Google Shape;235;p9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b="1"/>
              <a:t>CONCLUSION</a:t>
            </a:r>
            <a:br>
              <a:rPr lang="en-US" b="1"/>
            </a:b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dk1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7" name="Google Shape;237;p9"/>
          <p:cNvSpPr txBox="1">
            <a:spLocks noGrp="1"/>
          </p:cNvSpPr>
          <p:nvPr>
            <p:ph type="body" idx="1"/>
          </p:nvPr>
        </p:nvSpPr>
        <p:spPr>
          <a:xfrm>
            <a:off x="1466850" y="2463800"/>
            <a:ext cx="9247652" cy="33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i="1" dirty="0"/>
              <a:t>Arrival</a:t>
            </a:r>
            <a:r>
              <a:rPr lang="en-US" dirty="0"/>
              <a:t> provides a comparison for the complexities of NLP.</a:t>
            </a:r>
            <a:endParaRPr dirty="0"/>
          </a:p>
          <a:p>
            <a:pPr marL="228600" lvl="0" indent="-228600">
              <a:buSzPts val="2000"/>
            </a:pPr>
            <a:r>
              <a:rPr lang="en-US" dirty="0"/>
              <a:t>Challenges such as non-linear language, ambiguity, and idioms are real-world NLP issues.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dirty="0"/>
              <a:t>The film emphasizes the need for advanced AI tools for translation to understand linear and nonlinear languages.</a:t>
            </a:r>
            <a:endParaRPr dirty="0"/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480</Words>
  <Application>Microsoft Office PowerPoint</Application>
  <PresentationFormat>Widescreen</PresentationFormat>
  <Paragraphs>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Rockwell</vt:lpstr>
      <vt:lpstr>Damask</vt:lpstr>
      <vt:lpstr>Damask</vt:lpstr>
      <vt:lpstr>EXPLORING LANGUAGE &amp; NLP CHALLENGES FROM  "ARRIVAL" (2016) </vt:lpstr>
      <vt:lpstr>INTRODUCTION </vt:lpstr>
      <vt:lpstr>SUMMARY OF "ARRIVAL" (2016) </vt:lpstr>
      <vt:lpstr>NLP CHALLENGES IN "ARRIVAL" </vt:lpstr>
      <vt:lpstr>NLP CHALLENGES IN "ARRIVAL" </vt:lpstr>
      <vt:lpstr>ANALYSIS OF COMMUNICATION METHODS IN "ARRIVAL" AND NLP PARALLELS </vt:lpstr>
      <vt:lpstr>DEEP LEARNING &amp; NLP </vt:lpstr>
      <vt:lpstr>REFLECTION AND INSIGHTS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wbd wbd</dc:creator>
  <cp:lastModifiedBy>wbd wbd</cp:lastModifiedBy>
  <cp:revision>1</cp:revision>
  <dcterms:created xsi:type="dcterms:W3CDTF">2026-02-15T22:20:31Z</dcterms:created>
  <dcterms:modified xsi:type="dcterms:W3CDTF">2026-02-16T00:20:38Z</dcterms:modified>
</cp:coreProperties>
</file>